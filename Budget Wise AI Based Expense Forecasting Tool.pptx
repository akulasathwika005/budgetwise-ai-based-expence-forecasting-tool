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6" r:id="rId5"/>
    <p:sldId id="257" r:id="rId6"/>
    <p:sldId id="260" r:id="rId7"/>
    <p:sldId id="297" r:id="rId8"/>
    <p:sldId id="296" r:id="rId9"/>
    <p:sldId id="258" r:id="rId10"/>
    <p:sldId id="261" r:id="rId11"/>
    <p:sldId id="283" r:id="rId12"/>
    <p:sldId id="264" r:id="rId13"/>
    <p:sldId id="266" r:id="rId14"/>
    <p:sldId id="284" r:id="rId15"/>
    <p:sldId id="269" r:id="rId16"/>
    <p:sldId id="268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8" r:id="rId28"/>
    <p:sldId id="29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11/22/2025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2395728"/>
            <a:ext cx="8185912" cy="2194560"/>
          </a:xfrm>
        </p:spPr>
        <p:txBody>
          <a:bodyPr/>
          <a:lstStyle/>
          <a:p>
            <a:r>
              <a:rPr lang="en-US" dirty="0"/>
              <a:t>Budget Wise AI Based Expense Forecasting Tool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46" y="825500"/>
            <a:ext cx="7781544" cy="859055"/>
          </a:xfrm>
        </p:spPr>
        <p:txBody>
          <a:bodyPr>
            <a:normAutofit/>
          </a:bodyPr>
          <a:lstStyle/>
          <a:p>
            <a:r>
              <a:rPr lang="en-US" sz="4000" dirty="0"/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13AE64-FCD8-E9E9-98D8-2CA415DE79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82613" y="2082771"/>
            <a:ext cx="963212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AI-driven financial management application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users understand, manage, and predict expenses effectively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Automatically categorizes financial transactions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 spending patterns and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Prophet time-series forecasting to predict future expenses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visualizations for spending insights and budget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users to set achievable financial goals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Enhances financial awareness and decision-making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long-term financial planning and stability</a:t>
            </a: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46" y="406401"/>
            <a:ext cx="7353554" cy="6604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System Workflow Overview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48" y="1122680"/>
            <a:ext cx="7092950" cy="5557520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This system follows a </a:t>
            </a:r>
            <a:r>
              <a:rPr lang="en-US" b="1" dirty="0">
                <a:latin typeface="Arial" panose="020B0604020202020204" pitchFamily="34" charset="0"/>
              </a:rPr>
              <a:t>data-driven workflow</a:t>
            </a:r>
            <a:r>
              <a:rPr lang="en-US" dirty="0">
                <a:latin typeface="Arial" panose="020B0604020202020204" pitchFamily="34" charset="0"/>
              </a:rPr>
              <a:t> that starts from the user entering financial data and ends with AI-powered forecasts and insights:</a:t>
            </a:r>
          </a:p>
          <a:p>
            <a:r>
              <a:rPr lang="en-US" sz="2000" b="1" dirty="0">
                <a:latin typeface="Arial" panose="020B0604020202020204" pitchFamily="34" charset="0"/>
              </a:rPr>
              <a:t>User Interaction Layer</a:t>
            </a:r>
            <a:endParaRPr lang="en-US" sz="2000" dirty="0">
              <a:latin typeface="Arial" panose="020B0604020202020204" pitchFamily="34" charset="0"/>
            </a:endParaRPr>
          </a:p>
          <a:p>
            <a:pPr lvl="1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register &amp; log in securely.</a:t>
            </a:r>
          </a:p>
          <a:p>
            <a:pPr lvl="1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Inputs or uploads transaction data.</a:t>
            </a:r>
          </a:p>
          <a:p>
            <a:pPr lvl="1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 financial or savings goals.</a:t>
            </a:r>
          </a:p>
          <a:p>
            <a:pPr lvl="1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 dashboards, reports, and forecasts.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</a:rPr>
              <a:t>Web UI Layer</a:t>
            </a:r>
            <a:endParaRPr lang="en-US" sz="2000" dirty="0">
              <a:latin typeface="Arial" panose="020B0604020202020204" pitchFamily="34" charset="0"/>
            </a:endParaRPr>
          </a:p>
          <a:p>
            <a:pPr lvl="1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using </a:t>
            </a:r>
            <a:r>
              <a:rPr lang="en-US" sz="2000" b="1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Flask / Dash</a:t>
            </a: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responsive pages for:</a:t>
            </a:r>
          </a:p>
          <a:p>
            <a:pPr lvl="2"/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 &amp; registration</a:t>
            </a:r>
          </a:p>
          <a:p>
            <a:pPr lvl="2"/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 transaction entry</a:t>
            </a:r>
          </a:p>
          <a:p>
            <a:pPr lvl="2"/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Spending reports</a:t>
            </a:r>
          </a:p>
          <a:p>
            <a:pPr lvl="2"/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 visualization</a:t>
            </a:r>
          </a:p>
          <a:p>
            <a:pPr lvl="1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Ensures smooth user experience with interactive charts.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DC344-98E4-0582-AA3D-C3A3C084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C8FE5A-6993-C35B-5073-EE2F30B9B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71462"/>
            <a:ext cx="6858000" cy="63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591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FCAAE-7C87-25B8-BD0B-68A36CC4B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80E38-2AF6-F8D9-76F2-FB974323DA69}"/>
              </a:ext>
            </a:extLst>
          </p:cNvPr>
          <p:cNvSpPr txBox="1"/>
          <p:nvPr/>
        </p:nvSpPr>
        <p:spPr>
          <a:xfrm>
            <a:off x="671052" y="302359"/>
            <a:ext cx="6100916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Application Layer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 authentication sessions using JWT.</a:t>
            </a:r>
          </a:p>
          <a:p>
            <a:pPr lvl="1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Performs request routing, API processing, and validation.</a:t>
            </a:r>
          </a:p>
          <a:p>
            <a:pPr lvl="1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Communicates with the databases for CRUD operations.</a:t>
            </a:r>
          </a:p>
          <a:p>
            <a:pPr lvl="1"/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Prepares transaction data for analytics and ML models.</a:t>
            </a:r>
          </a:p>
          <a:p>
            <a:pPr lvl="1"/>
            <a:endParaRPr lang="en-US" sz="2000" dirty="0">
              <a:solidFill>
                <a:schemeClr val="accent2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Categorization Engine (Rules / NLTK NLP)</a:t>
            </a:r>
            <a:endParaRPr lang="en-US" sz="2000" dirty="0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Takes raw transaction descriptions (e.g., “Uber ride”, “Metro ticket”).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Applies keyword-based rules or small NLP models.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Automatically categorizes into groups: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Groceries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Travel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&amp; Dining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Utilities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Entertainment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manual overrides for accuracy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8627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351912" y="3684553"/>
            <a:ext cx="6706756" cy="2108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Databases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DB: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personal &amp; login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 DB: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 income/expense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 DB: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category labels &amp;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Goals DB: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savings goals and progress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C8645-8E68-1C30-4C55-067F7361B410}"/>
              </a:ext>
            </a:extLst>
          </p:cNvPr>
          <p:cNvSpPr txBox="1"/>
          <p:nvPr/>
        </p:nvSpPr>
        <p:spPr>
          <a:xfrm>
            <a:off x="351912" y="892851"/>
            <a:ext cx="626519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Analysis Layer (Pandas/NumPy)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Cleans and prepares time-series financial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Calculates monthly, weekly, and category-wise summaries.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 insights such as: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spending categories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trends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Cashflow balance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Overspending alerts</a:t>
            </a: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Rectangle 1"/>
          <p:cNvSpPr>
            <a:spLocks noGrp="1" noChangeArrowheads="1"/>
          </p:cNvSpPr>
          <p:nvPr>
            <p:ph type="body" sz="quarter" idx="2"/>
          </p:nvPr>
        </p:nvSpPr>
        <p:spPr bwMode="auto">
          <a:xfrm>
            <a:off x="186315" y="1357768"/>
            <a:ext cx="6548782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Forecasting Layer (Prophet)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Converts expense history into a time-series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Predicts future expenses for: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category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spending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cashflow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seasonal patterns (month-end peaks, festival spikes).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Outputs next-month and next-quarter forecasts.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Panel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system administrators to: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 category rules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 misclassified transactions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system logs and user statistics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scalability and data integrity.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360363"/>
            <a:ext cx="6630555" cy="535531"/>
          </a:xfrm>
        </p:spPr>
        <p:txBody>
          <a:bodyPr/>
          <a:lstStyle/>
          <a:p>
            <a:r>
              <a:rPr lang="en-US" dirty="0"/>
              <a:t>Detailed System Components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1300" y="984129"/>
            <a:ext cx="11094697" cy="5513508"/>
          </a:xfrm>
        </p:spPr>
        <p:txBody>
          <a:bodyPr/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 (UI Layer)</a:t>
            </a:r>
          </a:p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using </a:t>
            </a:r>
            <a:r>
              <a:rPr lang="en-US" sz="20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Dash</a:t>
            </a: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(interactive UI framework).</a:t>
            </a:r>
          </a:p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Includes:</a:t>
            </a:r>
          </a:p>
          <a:p>
            <a:pPr lvl="1"/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Login interface</a:t>
            </a:r>
          </a:p>
          <a:p>
            <a:pPr lvl="1"/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home</a:t>
            </a:r>
          </a:p>
          <a:p>
            <a:pPr lvl="1"/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 entry pages</a:t>
            </a:r>
          </a:p>
          <a:p>
            <a:pPr lvl="1"/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Forecast visualization screens</a:t>
            </a:r>
          </a:p>
          <a:p>
            <a:pPr lvl="1"/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Category-wise spending charts</a:t>
            </a:r>
          </a:p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Layer</a:t>
            </a:r>
          </a:p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using </a:t>
            </a: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Flask / </a:t>
            </a:r>
            <a:r>
              <a:rPr lang="en-US" sz="20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acting as the:</a:t>
            </a:r>
          </a:p>
          <a:p>
            <a:pPr lvl="1"/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Controller for user requests</a:t>
            </a:r>
          </a:p>
          <a:p>
            <a:pPr lvl="1"/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Authentication gateway</a:t>
            </a:r>
          </a:p>
          <a:p>
            <a:pPr lvl="1"/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Business logic handler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1673" y="738913"/>
            <a:ext cx="6247953" cy="6039981"/>
          </a:xfrm>
        </p:spPr>
        <p:txBody>
          <a:bodyPr/>
          <a:lstStyle/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</a:p>
          <a:p>
            <a:endParaRPr lang="en-US" sz="20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US" sz="20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Categorization Engine</a:t>
            </a:r>
          </a:p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Uses:</a:t>
            </a:r>
          </a:p>
          <a:p>
            <a:pPr lvl="1"/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Regex-based keyword extraction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NLTK tokenization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Predefined mapping dictionaries</a:t>
            </a:r>
          </a:p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Automatically assigns categories based on patterns:</a:t>
            </a:r>
          </a:p>
          <a:p>
            <a:pPr lvl="1"/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“petrol”, “uber”, “metro” → </a:t>
            </a:r>
            <a:r>
              <a:rPr lang="en-US" sz="2000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Transport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“milk”, “vegetables” → </a:t>
            </a:r>
            <a:r>
              <a:rPr lang="en-US" sz="2000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Groceries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E6E85D-071C-ECC6-B5DB-BD5764F8B364}"/>
              </a:ext>
            </a:extLst>
          </p:cNvPr>
          <p:cNvSpPr txBox="1"/>
          <p:nvPr/>
        </p:nvSpPr>
        <p:spPr>
          <a:xfrm>
            <a:off x="6233652" y="3030072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Transactions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Categories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Goals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logs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D7FB48-B25A-EFCB-42AE-E6D58AD29A78}"/>
              </a:ext>
            </a:extLst>
          </p:cNvPr>
          <p:cNvSpPr txBox="1"/>
          <p:nvPr/>
        </p:nvSpPr>
        <p:spPr>
          <a:xfrm>
            <a:off x="6469626" y="1990690"/>
            <a:ext cx="61648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Databases</a:t>
            </a:r>
          </a:p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using </a:t>
            </a: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SQLite / PostgreSQL</a:t>
            </a: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Tables include:</a:t>
            </a:r>
          </a:p>
        </p:txBody>
      </p:sp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4946" y="834334"/>
            <a:ext cx="6096000" cy="50167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Analytics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Aggregations with Pandas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Cashflow</a:t>
            </a: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 grouping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spending trends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Year-over-year comparisons</a:t>
            </a:r>
          </a:p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Forecasting Engine (Prophet)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Trend patterns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30-day forecast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Multi-month projection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Confidence intervals</a:t>
            </a:r>
          </a:p>
        </p:txBody>
      </p:sp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6556664" cy="535531"/>
          </a:xfrm>
        </p:spPr>
        <p:txBody>
          <a:bodyPr/>
          <a:lstStyle/>
          <a:p>
            <a:r>
              <a:rPr lang="en-US" dirty="0"/>
              <a:t>Packages Used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17506" y="1406297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Core Backend Packages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117334"/>
              </p:ext>
            </p:extLst>
          </p:nvPr>
        </p:nvGraphicFramePr>
        <p:xfrm>
          <a:off x="295565" y="2133599"/>
          <a:ext cx="9716653" cy="4181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2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4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4041">
                <a:tc>
                  <a:txBody>
                    <a:bodyPr/>
                    <a:lstStyle/>
                    <a:p>
                      <a:r>
                        <a:rPr lang="en-US" dirty="0"/>
                        <a:t>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041">
                <a:tc>
                  <a:txBody>
                    <a:bodyPr/>
                    <a:lstStyle/>
                    <a:p>
                      <a:r>
                        <a:rPr lang="en-US" b="1"/>
                        <a:t>Flask / FastAPI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Backend routing, APIs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041">
                <a:tc>
                  <a:txBody>
                    <a:bodyPr/>
                    <a:lstStyle/>
                    <a:p>
                      <a:r>
                        <a:rPr lang="en-US" b="1"/>
                        <a:t>Streamlit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UI and dashboards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041">
                <a:tc>
                  <a:txBody>
                    <a:bodyPr/>
                    <a:lstStyle/>
                    <a:p>
                      <a:r>
                        <a:rPr lang="en-US" b="1"/>
                        <a:t>SQLAlchemy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ORM for DB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041">
                <a:tc>
                  <a:txBody>
                    <a:bodyPr/>
                    <a:lstStyle/>
                    <a:p>
                      <a:r>
                        <a:rPr lang="en-US" b="1"/>
                        <a:t>PyJWT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Authentication with tokens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73">
                <a:tc>
                  <a:txBody>
                    <a:bodyPr/>
                    <a:lstStyle/>
                    <a:p>
                      <a:r>
                        <a:rPr lang="en-US" b="1"/>
                        <a:t>Werkzeug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Password hashing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660" y="0"/>
            <a:ext cx="4945598" cy="1243584"/>
          </a:xfrm>
        </p:spPr>
        <p:txBody>
          <a:bodyPr/>
          <a:lstStyle/>
          <a:p>
            <a:r>
              <a:rPr lang="en-US" sz="2800" dirty="0"/>
              <a:t>Data &amp; Analytics Packages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844678"/>
              </p:ext>
            </p:extLst>
          </p:nvPr>
        </p:nvGraphicFramePr>
        <p:xfrm>
          <a:off x="628065" y="1047556"/>
          <a:ext cx="8617536" cy="2619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8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8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051">
                <a:tc>
                  <a:txBody>
                    <a:bodyPr/>
                    <a:lstStyle/>
                    <a:p>
                      <a:r>
                        <a:rPr lang="en-US" dirty="0"/>
                        <a:t>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024">
                <a:tc>
                  <a:txBody>
                    <a:bodyPr/>
                    <a:lstStyle/>
                    <a:p>
                      <a:r>
                        <a:rPr lang="en-US" b="0" dirty="0"/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manipulation and summary reports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051">
                <a:tc>
                  <a:txBody>
                    <a:bodyPr/>
                    <a:lstStyle/>
                    <a:p>
                      <a:r>
                        <a:rPr lang="en-US" b="0" dirty="0" err="1"/>
                        <a:t>NumPy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Numerical 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051">
                <a:tc>
                  <a:txBody>
                    <a:bodyPr/>
                    <a:lstStyle/>
                    <a:p>
                      <a:r>
                        <a:rPr lang="en-US" dirty="0" err="1"/>
                        <a:t>Matplotlib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Static charts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051">
                <a:tc>
                  <a:txBody>
                    <a:bodyPr/>
                    <a:lstStyle/>
                    <a:p>
                      <a:r>
                        <a:rPr lang="en-US" dirty="0" err="1"/>
                        <a:t>Seaborn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Trend visualizations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051">
                <a:tc>
                  <a:txBody>
                    <a:bodyPr/>
                    <a:lstStyle/>
                    <a:p>
                      <a:r>
                        <a:rPr lang="en-US" dirty="0" err="1"/>
                        <a:t>Plotly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Interactive charts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94260" y="3798516"/>
            <a:ext cx="31863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NLP / Categorization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694621"/>
              </p:ext>
            </p:extLst>
          </p:nvPr>
        </p:nvGraphicFramePr>
        <p:xfrm>
          <a:off x="822035" y="4543520"/>
          <a:ext cx="7970984" cy="164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5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5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840">
                <a:tc>
                  <a:txBody>
                    <a:bodyPr/>
                    <a:lstStyle/>
                    <a:p>
                      <a:r>
                        <a:rPr lang="en-US" dirty="0"/>
                        <a:t>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840">
                <a:tc>
                  <a:txBody>
                    <a:bodyPr/>
                    <a:lstStyle/>
                    <a:p>
                      <a:r>
                        <a:rPr lang="en-US" b="1" dirty="0"/>
                        <a:t>NLTK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Basic natural language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840">
                <a:tc>
                  <a:txBody>
                    <a:bodyPr/>
                    <a:lstStyle/>
                    <a:p>
                      <a:r>
                        <a:rPr lang="en-US" b="1" dirty="0"/>
                        <a:t>Regex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Keyword-based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67" y="221673"/>
            <a:ext cx="6136559" cy="849745"/>
          </a:xfrm>
        </p:spPr>
        <p:txBody>
          <a:bodyPr/>
          <a:lstStyle/>
          <a:p>
            <a:r>
              <a:rPr lang="en-US" sz="2800" dirty="0"/>
              <a:t>Forecasting &amp; Machine Learning</a:t>
            </a:r>
            <a:endParaRPr lang="en-GB" sz="2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807412"/>
              </p:ext>
            </p:extLst>
          </p:nvPr>
        </p:nvGraphicFramePr>
        <p:xfrm>
          <a:off x="526472" y="1071416"/>
          <a:ext cx="7426036" cy="1542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3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158">
                <a:tc>
                  <a:txBody>
                    <a:bodyPr/>
                    <a:lstStyle/>
                    <a:p>
                      <a:r>
                        <a:rPr lang="en-US" dirty="0"/>
                        <a:t>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158">
                <a:tc>
                  <a:txBody>
                    <a:bodyPr/>
                    <a:lstStyle/>
                    <a:p>
                      <a:r>
                        <a:rPr lang="en-US" b="1" dirty="0"/>
                        <a:t>Prophet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Time-series expense forecasting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158">
                <a:tc>
                  <a:txBody>
                    <a:bodyPr/>
                    <a:lstStyle/>
                    <a:p>
                      <a:r>
                        <a:rPr lang="en-US" b="1" dirty="0" err="1"/>
                        <a:t>Scikit</a:t>
                      </a:r>
                      <a:r>
                        <a:rPr lang="en-US" b="1" dirty="0"/>
                        <a:t>-learn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Scaling, preprocessing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53762"/>
            <a:ext cx="11214100" cy="535531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Milestone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0B5C6-1CB0-445E-99D1-8E2FE8C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54A61-D199-469B-AB0C-B68F82B50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900" y="1309747"/>
            <a:ext cx="7411027" cy="556380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Milestone 1: User Authentication &amp; Transaction Input (Weeks 1–2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0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9809" y="1866127"/>
            <a:ext cx="600299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Was Developed</a:t>
            </a:r>
          </a:p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User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Registration page for new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login system using 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JWT-based authentication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Password hashing using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Werkzeug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 management page</a:t>
            </a:r>
          </a:p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Transaction Input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can manually enter: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 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Type: </a:t>
            </a:r>
            <a:r>
              <a:rPr lang="en-US" sz="20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20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Expense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Optional category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validation to avoid errors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805" y="1986581"/>
            <a:ext cx="5550029" cy="312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16791" y="701748"/>
            <a:ext cx="6718300" cy="409324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Stack Used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Flask /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SQLAlchemy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DB</a:t>
            </a:r>
          </a:p>
          <a:p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PyJWT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security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 for temporary data storage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Deliverables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Login &amp; signup screens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user dashboard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 input form</a:t>
            </a:r>
          </a:p>
        </p:txBody>
      </p:sp>
    </p:spTree>
    <p:extLst>
      <p:ext uri="{BB962C8B-B14F-4D97-AF65-F5344CB8AC3E}">
        <p14:creationId xmlns:p14="http://schemas.microsoft.com/office/powerpoint/2010/main" val="1043705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 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44500" y="1078456"/>
            <a:ext cx="5808518" cy="45999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Mile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stone 2: Categorization &amp; Reporting (Weeks 3–4)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What Was Developed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✔ Rule-based Categorization</a:t>
            </a:r>
          </a:p>
          <a:p>
            <a:r>
              <a:rPr lang="en-US" dirty="0"/>
              <a:t>Keyword dictionary:</a:t>
            </a:r>
          </a:p>
          <a:p>
            <a:pPr lvl="1"/>
            <a:r>
              <a:rPr lang="en-US" dirty="0"/>
              <a:t>“bus”, “</a:t>
            </a:r>
            <a:r>
              <a:rPr lang="en-US" dirty="0" err="1"/>
              <a:t>uber</a:t>
            </a:r>
            <a:r>
              <a:rPr lang="en-US" dirty="0"/>
              <a:t>” → Transport</a:t>
            </a:r>
          </a:p>
          <a:p>
            <a:pPr lvl="1"/>
            <a:r>
              <a:rPr lang="en-US" dirty="0"/>
              <a:t>“electricity”, “water bill” → Utilities</a:t>
            </a:r>
          </a:p>
          <a:p>
            <a:r>
              <a:rPr lang="en-US" dirty="0"/>
              <a:t>NLTK for tokenizing and filtering description text</a:t>
            </a:r>
          </a:p>
          <a:p>
            <a:r>
              <a:rPr lang="en-US" dirty="0"/>
              <a:t>Auto assigns categories → reduces manual work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✔ Reporting Module</a:t>
            </a:r>
          </a:p>
          <a:p>
            <a:r>
              <a:rPr lang="en-US" dirty="0"/>
              <a:t>Monthly spending summary</a:t>
            </a:r>
          </a:p>
          <a:p>
            <a:r>
              <a:rPr lang="en-US" dirty="0"/>
              <a:t>Category-wise breakdown</a:t>
            </a:r>
          </a:p>
          <a:p>
            <a:r>
              <a:rPr lang="en-US" dirty="0"/>
              <a:t>Income vs Expense comparison</a:t>
            </a:r>
          </a:p>
          <a:p>
            <a:r>
              <a:rPr lang="en-US" dirty="0"/>
              <a:t>Visualization charts:</a:t>
            </a:r>
          </a:p>
          <a:p>
            <a:pPr lvl="1"/>
            <a:r>
              <a:rPr lang="en-US" dirty="0"/>
              <a:t>Bar charts (Top categories)</a:t>
            </a:r>
          </a:p>
          <a:p>
            <a:pPr lvl="1"/>
            <a:r>
              <a:rPr lang="en-US" dirty="0"/>
              <a:t>Pie charts (Spending distribution)</a:t>
            </a:r>
          </a:p>
          <a:p>
            <a:pPr lvl="1"/>
            <a:r>
              <a:rPr lang="en-US" dirty="0"/>
              <a:t>Line charts (Trend analysis)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745" y="1895530"/>
            <a:ext cx="5728855" cy="322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50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656973" y="1084826"/>
            <a:ext cx="580043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Stack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 (aggregation)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NLTK (NLP)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(visuals)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Seaborn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(trend lines)</a:t>
            </a:r>
          </a:p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 dashboard layout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categorization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Category-wise reports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655" y="2266242"/>
            <a:ext cx="6234545" cy="350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9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375593" y="787461"/>
            <a:ext cx="25282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Milestone 3 </a:t>
            </a:r>
          </a:p>
        </p:txBody>
      </p:sp>
      <p:sp>
        <p:nvSpPr>
          <p:cNvPr id="4" name="Rectangle 3"/>
          <p:cNvSpPr/>
          <p:nvPr/>
        </p:nvSpPr>
        <p:spPr>
          <a:xfrm>
            <a:off x="375593" y="1436084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Milestone 3: Forecasting &amp; Goal Setting (Weeks 5–6)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What Was Developed</a:t>
            </a:r>
          </a:p>
          <a:p>
            <a:r>
              <a:rPr lang="en-US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✔ Data Preparation for 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Converted raw transactions into monthly aggregated time series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Filled missing months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Added features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Month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Seasonality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Category-level sequences</a:t>
            </a:r>
          </a:p>
          <a:p>
            <a:r>
              <a:rPr lang="en-US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✔ Prophet Forecasting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Built forecasting models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Total expenses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Individual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Visualized: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Future 30–90 day predictions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Upper/lower confidence intervals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454" y="2922698"/>
            <a:ext cx="58928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33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572655" y="778869"/>
            <a:ext cx="6096000" cy="47089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Goal Setting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can set: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Savings targets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spending limits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“Reduce category spend by X%” rules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Tracks percentage of goal completion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Alerts users when they are off track</a:t>
            </a:r>
          </a:p>
          <a:p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Stack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Prophet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Seaborn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Forecast graphs (actual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predicted)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 creation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 progress tracking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626" y="157019"/>
            <a:ext cx="5508974" cy="30987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626" y="3491346"/>
            <a:ext cx="5492558" cy="308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385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1345410" y="316406"/>
            <a:ext cx="26816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Milestone 4 </a:t>
            </a:r>
          </a:p>
        </p:txBody>
      </p:sp>
      <p:sp>
        <p:nvSpPr>
          <p:cNvPr id="4" name="Rectangle 3"/>
          <p:cNvSpPr/>
          <p:nvPr/>
        </p:nvSpPr>
        <p:spPr>
          <a:xfrm>
            <a:off x="314038" y="1111378"/>
            <a:ext cx="597592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Milestone 4: </a:t>
            </a:r>
            <a:r>
              <a:rPr lang="en-US" sz="2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Dashboarding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Admin Panel &amp; Deployment (Weeks 7–8)</a:t>
            </a:r>
          </a:p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Was Developed</a:t>
            </a:r>
          </a:p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Interactive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using </a:t>
            </a:r>
            <a:r>
              <a:rPr lang="en-US" sz="20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Dash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expense charts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 filters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Forecast overlays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spending category tables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 progress visualization</a:t>
            </a:r>
          </a:p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Admin Panel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Add/update/delete rules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 users and transaction stats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004" y="2135781"/>
            <a:ext cx="6419273" cy="361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537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243125" y="600606"/>
            <a:ext cx="6096000" cy="40934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Deployment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app packaged into </a:t>
            </a:r>
            <a:r>
              <a:rPr lang="en-US" sz="20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container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 variables for secrets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connection handled securely</a:t>
            </a:r>
          </a:p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Stack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Dash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Plotly</a:t>
            </a:r>
            <a:endParaRPr lang="en-US" sz="2000" dirty="0">
              <a:solidFill>
                <a:schemeClr val="accent2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</a:t>
            </a:r>
            <a:endParaRPr lang="en-US" sz="2000" dirty="0">
              <a:solidFill>
                <a:schemeClr val="accent2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SQLAlchemy</a:t>
            </a:r>
            <a:endParaRPr lang="en-US" sz="2000" dirty="0">
              <a:solidFill>
                <a:schemeClr val="accent2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Fully functioning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management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Dockerized</a:t>
            </a: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application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944" y="2115126"/>
            <a:ext cx="7183838" cy="404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122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380808" y="611970"/>
            <a:ext cx="34386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2582" y="1277080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workflow demonstrates how the Personal Budgeting &amp; Forecasting system processes financial transactions from input to AI-driven forecasts.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582" y="2434633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Inputs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Sets goals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Views insights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Collects input via 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Renders reports and charts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Authenticates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Validates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Sends data to analysis &amp; ML modules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Categorization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Converts descriptions → categories through NLP/rules</a:t>
            </a:r>
          </a:p>
        </p:txBody>
      </p:sp>
    </p:spTree>
    <p:extLst>
      <p:ext uri="{BB962C8B-B14F-4D97-AF65-F5344CB8AC3E}">
        <p14:creationId xmlns:p14="http://schemas.microsoft.com/office/powerpoint/2010/main" val="3380120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712987" y="939875"/>
            <a:ext cx="6096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Stores all user and financial data securely</a:t>
            </a:r>
          </a:p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Overspending alerts</a:t>
            </a:r>
          </a:p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Forecasting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Time-series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Predicts future expenses</a:t>
            </a:r>
          </a:p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 management</a:t>
            </a:r>
          </a:p>
        </p:txBody>
      </p:sp>
    </p:spTree>
    <p:extLst>
      <p:ext uri="{BB962C8B-B14F-4D97-AF65-F5344CB8AC3E}">
        <p14:creationId xmlns:p14="http://schemas.microsoft.com/office/powerpoint/2010/main" val="1520282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7DAC75-B61F-7705-0AE1-79E1C827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07B3-8915-405E-A341-77C3A54D0C1A}"/>
              </a:ext>
            </a:extLst>
          </p:cNvPr>
          <p:cNvSpPr txBox="1"/>
          <p:nvPr/>
        </p:nvSpPr>
        <p:spPr>
          <a:xfrm>
            <a:off x="744117" y="216070"/>
            <a:ext cx="6097554" cy="69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n-US" sz="3600" b="1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ea typeface="等线 Light" panose="020B0503020204020204" pitchFamily="2" charset="-122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A942CE-2850-C8CD-CAF6-60F68762657D}"/>
              </a:ext>
            </a:extLst>
          </p:cNvPr>
          <p:cNvSpPr txBox="1"/>
          <p:nvPr/>
        </p:nvSpPr>
        <p:spPr>
          <a:xfrm>
            <a:off x="744117" y="911259"/>
            <a:ext cx="6097554" cy="5493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2000" b="1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Personal Budgeting &amp; Expense Forecaster</a:t>
            </a:r>
            <a:r>
              <a:rPr lang="en-US" sz="20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is a complete end-to-end financial analytics system.</a:t>
            </a:r>
            <a:br>
              <a:rPr lang="en-US" sz="20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It integrates dashboards, NLP-based categorization, financial forecasting, and goal management into a single user-friendly platform.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This project demonstrates: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Full-stack development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Machine learning (Prophet forecasting)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NLP categorization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Data engineering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Visualization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Deployment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Authentication &amp; admin management</a:t>
            </a:r>
          </a:p>
        </p:txBody>
      </p:sp>
    </p:spTree>
    <p:extLst>
      <p:ext uri="{BB962C8B-B14F-4D97-AF65-F5344CB8AC3E}">
        <p14:creationId xmlns:p14="http://schemas.microsoft.com/office/powerpoint/2010/main" val="3743754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13549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16c05727-aa75-4e4a-9b5f-8a80a1165891"/>
    <ds:schemaRef ds:uri="71af3243-3dd4-4a8d-8c0d-dd76da1f02a5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8</TotalTime>
  <Words>1188</Words>
  <Application>Microsoft Office PowerPoint</Application>
  <PresentationFormat>Widescreen</PresentationFormat>
  <Paragraphs>330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Symbol</vt:lpstr>
      <vt:lpstr>Trade Gothic LT Pro</vt:lpstr>
      <vt:lpstr>Trebuchet MS</vt:lpstr>
      <vt:lpstr>Office Theme</vt:lpstr>
      <vt:lpstr>Budget Wise AI Based Expense Forecasting Tool</vt:lpstr>
      <vt:lpstr>Introduction</vt:lpstr>
      <vt:lpstr>System Workflow Overview </vt:lpstr>
      <vt:lpstr>PowerPoint Presentation</vt:lpstr>
      <vt:lpstr>PowerPoint Presentation</vt:lpstr>
      <vt:lpstr>PowerPoint Presentation</vt:lpstr>
      <vt:lpstr>PowerPoint Presentation</vt:lpstr>
      <vt:lpstr>Detailed System Components</vt:lpstr>
      <vt:lpstr>PowerPoint Presentation</vt:lpstr>
      <vt:lpstr>PowerPoint Presentation</vt:lpstr>
      <vt:lpstr>Packages Used</vt:lpstr>
      <vt:lpstr>Data &amp; Analytics Packages</vt:lpstr>
      <vt:lpstr>Forecasting &amp; Machine Learning</vt:lpstr>
      <vt:lpstr>Milestone 1</vt:lpstr>
      <vt:lpstr>PowerPoint Presentation</vt:lpstr>
      <vt:lpstr>Milestone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krishna kamulu</dc:creator>
  <dc:description/>
  <cp:lastModifiedBy>harshithakamulu58@gmail.com</cp:lastModifiedBy>
  <cp:revision>2</cp:revision>
  <dcterms:created xsi:type="dcterms:W3CDTF">2025-11-17T12:10:08Z</dcterms:created>
  <dcterms:modified xsi:type="dcterms:W3CDTF">2025-11-22T14:19:33Z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